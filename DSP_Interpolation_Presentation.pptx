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6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2994660"/>
            <a:ext cx="64008" cy="50292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89720" y="2788920"/>
            <a:ext cx="64008" cy="91440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0" y="2916936"/>
            <a:ext cx="64008" cy="658368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583179"/>
            <a:ext cx="64008" cy="132588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2811779"/>
            <a:ext cx="64008" cy="86868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04120" y="242316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20" y="2743200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61320" y="253746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0" y="2880360"/>
            <a:ext cx="64008" cy="7315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18520" y="2674620"/>
            <a:ext cx="64008" cy="114300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47120" y="2971800"/>
            <a:ext cx="64008" cy="54864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75720" y="2491739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58368"/>
            <a:ext cx="7406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3BEC3"/>
                </a:solidFill>
                <a:latin typeface="Aptos"/>
              </a:rPr>
              <a:t>DIGITAL SIGNAL PROCESSING  |  MINI-PROJECT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234440"/>
            <a:ext cx="740664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Interpolation for
Smooth Reconstruction
of Sensor Signals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914400" cy="54864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EC3"/>
                </a:solidFill>
                <a:latin typeface="Aptos"/>
              </a:rPr>
              <a:t>Submitted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61104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Rushikesh Gajanan Borade  |  PRN: 1022512003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36592"/>
            <a:ext cx="7223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Guide: Dr. Hrishikesh Vanjari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02352"/>
            <a:ext cx="7406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7E4"/>
                </a:solidFill>
                <a:latin typeface="Aptos"/>
              </a:rPr>
              <a:t>Third Year ECE  •  Division B  •  Semester I  •  Academic Year 2026–2027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72237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AD7E4"/>
                </a:solidFill>
                <a:latin typeface="Aptos"/>
              </a:rPr>
              <a:t>Department of Electronics and Communication
School of Engineering and Technology
DES Pune University,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01  | 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Why signal reconstruction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49194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2340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491947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D3C"/>
                </a:solidFill>
                <a:latin typeface="Aptos"/>
              </a:rPr>
              <a:t>Sensors may store or transmit sparse measurements to reduce power, memory and bandwidth. Downsampling saves data, but can distort the waveform or introduce aliasing.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719072"/>
            <a:ext cx="49194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2340"/>
                </a:solidFill>
                <a:latin typeface="Aptos"/>
              </a:rPr>
              <a:t>Study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21408"/>
            <a:ext cx="491947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D3C"/>
                </a:solidFill>
                <a:latin typeface="Aptos"/>
              </a:rPr>
              <a:t>Synthetic signal: 1 kHz sampling, 5 Hz + 20 Hz + 50 Hz tones, with controlled noise.
Real-data validation: a short audio recording.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67328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196"/>
                </a:solidFill>
                <a:latin typeface="Aptos"/>
              </a:rPr>
              <a:t>PROJECT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33087"/>
            <a:ext cx="10789920" cy="1965960"/>
          </a:xfrm>
          <a:prstGeom prst="rect">
            <a:avLst/>
          </a:prstGeom>
          <a:noFill/>
        </p:spPr>
        <p:txBody>
          <a:bodyPr wrap="square" lIns="54864" rIns="45720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 Build a downsample–reconstruct pipeline in MATLAB.</a:t>
            </a:r>
          </a:p>
          <a:p>
            <a:pPr>
              <a:spcAft>
                <a:spcPts val="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 Compare five interpolation methods under the same test conditions.</a:t>
            </a:r>
          </a:p>
          <a:p>
            <a:pPr>
              <a:spcAft>
                <a:spcPts val="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 Identify practical downsampling factors for a target error.</a:t>
            </a:r>
          </a:p>
          <a:p>
            <a:pPr>
              <a:spcAft>
                <a:spcPts val="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 Evaluate anti-alias filtering and reconstruction quality.</a:t>
            </a:r>
          </a:p>
          <a:p>
            <a:pPr>
              <a:spcAft>
                <a:spcPts val="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 Score results with RMSE, MAE and correlation.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02  |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Methodology: one pipeline, five interpolators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2139696" cy="1207008"/>
          </a:xfrm>
          <a:prstGeom prst="roundRect">
            <a:avLst>
              <a:gd name="adj" fmla="val 12000"/>
            </a:avLst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69164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AD4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Input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14884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Synthetic /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938528"/>
            <a:ext cx="155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572768"/>
            <a:ext cx="2139696" cy="1207008"/>
          </a:xfrm>
          <a:prstGeom prst="roundRect">
            <a:avLst>
              <a:gd name="adj" fmla="val 12000"/>
            </a:avLst>
          </a:prstGeom>
          <a:solidFill>
            <a:srgbClr val="DE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69164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9196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69164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Anti-alias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14884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2340"/>
                </a:solidFill>
                <a:latin typeface="Aptos"/>
              </a:rPr>
              <a:t>Optional low-pass 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55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572768"/>
            <a:ext cx="2139696" cy="1207008"/>
          </a:xfrm>
          <a:prstGeom prst="roundRect">
            <a:avLst>
              <a:gd name="adj" fmla="val 12000"/>
            </a:avLst>
          </a:prstGeom>
          <a:solidFill>
            <a:srgbClr val="DE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69164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9196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169164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Downsample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14884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2340"/>
                </a:solidFill>
                <a:latin typeface="Aptos"/>
              </a:rPr>
              <a:t>Keep every M-th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5" y="1938528"/>
            <a:ext cx="155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1572768"/>
            <a:ext cx="2139696" cy="1207008"/>
          </a:xfrm>
          <a:prstGeom prst="roundRect">
            <a:avLst>
              <a:gd name="adj" fmla="val 12000"/>
            </a:avLst>
          </a:prstGeom>
          <a:solidFill>
            <a:srgbClr val="DE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69164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9196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4" y="169164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Reconstruct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14884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12340"/>
                </a:solidFill>
                <a:latin typeface="Aptos"/>
              </a:rPr>
              <a:t>Five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1938528"/>
            <a:ext cx="155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65792" y="1572768"/>
            <a:ext cx="2139696" cy="1207008"/>
          </a:xfrm>
          <a:prstGeom prst="roundRect">
            <a:avLst>
              <a:gd name="adj" fmla="val 12000"/>
            </a:avLst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169164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AD41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169164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214884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RMSE • MAE • Corr.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196"/>
                </a:solidFill>
                <a:latin typeface="Aptos"/>
              </a:rPr>
              <a:t>INTERPOLATION METHODS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639312"/>
            <a:ext cx="3474720" cy="841248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3639312"/>
            <a:ext cx="73152" cy="841248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80390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Zero-order 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206240"/>
            <a:ext cx="309067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32D3C"/>
                </a:solidFill>
                <a:latin typeface="Aptos"/>
              </a:rPr>
              <a:t>Repeats the previous value; staircase artefacts.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639312"/>
            <a:ext cx="3474720" cy="841248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34840" y="3639312"/>
            <a:ext cx="73152" cy="841248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6008" y="380390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Linear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6008" y="4206240"/>
            <a:ext cx="309067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32D3C"/>
                </a:solidFill>
                <a:latin typeface="Aptos"/>
              </a:rPr>
              <a:t>Straight-line segments; baseline method.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639312"/>
            <a:ext cx="3474720" cy="841248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0" y="3639312"/>
            <a:ext cx="73152" cy="841248"/>
          </a:xfrm>
          <a:prstGeom prst="roundRect">
            <a:avLst>
              <a:gd name="adj" fmla="val 12000"/>
            </a:avLst>
          </a:prstGeom>
          <a:solidFill>
            <a:srgbClr val="53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8" y="380390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Cubic spline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4206240"/>
            <a:ext cx="309067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32D3C"/>
                </a:solidFill>
                <a:latin typeface="Aptos"/>
              </a:rPr>
              <a:t>Smooth piecewise cubic reconstruction.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690872"/>
            <a:ext cx="3474720" cy="841248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4690872"/>
            <a:ext cx="73152" cy="841248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485546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FFT (sinc)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7" y="5257800"/>
            <a:ext cx="309067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32D3C"/>
                </a:solidFill>
                <a:latin typeface="Aptos"/>
              </a:rPr>
              <a:t>Spectrum zero-padding; band-limited assumption.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34840" y="4690872"/>
            <a:ext cx="3474720" cy="841248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34840" y="4690872"/>
            <a:ext cx="73152" cy="841248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6008" y="485546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Polyphase FIR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6008" y="5257800"/>
            <a:ext cx="309067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32D3C"/>
                </a:solidFill>
                <a:latin typeface="Aptos"/>
              </a:rPr>
              <a:t>Efficient upsampling + anti-imaging FIR filter.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8978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F6C7D"/>
                </a:solidFill>
                <a:latin typeface="Aptos"/>
              </a:rPr>
              <a:t>Metrics: RMSE and MAE should be lower; correlation should be closer to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03  |  RESULTS • SYNTHETIC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Result 1 — smooth interpolators reduce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pic>
        <p:nvPicPr>
          <p:cNvPr id="8" name="Picture 7" descr="result_method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6949440" cy="32894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600200"/>
            <a:ext cx="3703320" cy="114300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1600200"/>
            <a:ext cx="73152" cy="114300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764792"/>
            <a:ext cx="3319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Best at M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167128"/>
            <a:ext cx="331927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Polyphase FIR RMSE = 0.0424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907792"/>
            <a:ext cx="3703320" cy="114300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2907792"/>
            <a:ext cx="73152" cy="114300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3072384"/>
            <a:ext cx="3319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14% lower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474720"/>
            <a:ext cx="331927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Polyphase FIR vs. linear baseline: 0.0424 vs. 0.0495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15384"/>
            <a:ext cx="3703320" cy="114300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4215384"/>
            <a:ext cx="73152" cy="1143000"/>
          </a:xfrm>
          <a:prstGeom prst="roundRect">
            <a:avLst>
              <a:gd name="adj" fmla="val 12000"/>
            </a:avLst>
          </a:prstGeom>
          <a:solidFill>
            <a:srgbClr val="BE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4379976"/>
            <a:ext cx="3319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Least accurate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782312"/>
            <a:ext cx="331927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Zero-order hold RMSE = 0.1461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F6C7D"/>
                </a:solidFill>
                <a:latin typeface="Aptos"/>
              </a:rPr>
              <a:t>Spline, FFT and polyphase FIR are nearly equivalent on this noisy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03  |  RESULTS • DOWNSAMPLING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Result 2 — error rises as data reduction increases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pic>
        <p:nvPicPr>
          <p:cNvPr id="8" name="Picture 7" descr="result_factor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7498079" cy="3845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69164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16916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856232"/>
            <a:ext cx="2862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Practical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258568"/>
            <a:ext cx="286207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At RMSE &lt; 0.10, spline, FFT and polyphase FIR reach M = 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06324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30632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3227832"/>
            <a:ext cx="2862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Nyquist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630168"/>
            <a:ext cx="286207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At M = 10, the new Nyquist frequency is 50 Hz—the highest input tone.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434840"/>
            <a:ext cx="3246120" cy="11887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44348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53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4599431"/>
            <a:ext cx="2862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5001768"/>
            <a:ext cx="286207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Keep fs/M comfortably above 2 × fmax; M = 8 worked for this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F6C7D"/>
                </a:solidFill>
                <a:latin typeface="Aptos"/>
              </a:rPr>
              <a:t>The suitable factor depends on signal bandwidth and the acceptable reconstruction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03  |  RESULTS • ANTI-ALIASING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Filtering: useful, but not universally beneficial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RMSE comparison from the report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38528"/>
          <a:ext cx="66294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737360"/>
                <a:gridCol w="1737360"/>
              </a:tblGrid>
              <a:tr h="48593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 / factor</a:t>
                      </a:r>
                    </a:p>
                  </a:txBody>
                  <a:tcPr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With filter</a:t>
                      </a:r>
                    </a:p>
                  </a:txBody>
                  <a:tcPr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 filter</a:t>
                      </a:r>
                    </a:p>
                  </a:txBody>
                  <a:tcPr>
                    <a:solidFill>
                      <a:srgbClr val="112340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M = 4 • Linear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0.0496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0.0583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M = 4 • Cubic spline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M = 4 • Polyphase FIR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0.0425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0.0591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M = 8 •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0.1286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0.1113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M = 8 • Cubic spline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0.0924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0.0763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4859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M = 8 • Polyphase FIR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C"/>
                          </a:solidFill>
                        </a:defRPr>
                      </a:pPr>
                      <a:r>
                        <a:t>0.0646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26679" y="1828800"/>
            <a:ext cx="3794760" cy="14173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73152" cy="14173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993392"/>
            <a:ext cx="3410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At M =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395728"/>
            <a:ext cx="341071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Filtering reduced error by removing out-of-band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474720"/>
            <a:ext cx="3794760" cy="160020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26679" y="3474720"/>
            <a:ext cx="73152" cy="160020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3639312"/>
            <a:ext cx="3410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At M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041648"/>
            <a:ext cx="341071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All three listed methods had slightly lower RMSE without the pre-filter in this experiment.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06440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F6C7D"/>
                </a:solidFill>
                <a:latin typeface="Aptos"/>
              </a:rPr>
              <a:t>Conclusion: filter design, transition band and edge transients matter; pre-filtering is not automatically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03  |  RESULTS • REAL-DATA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Result 3 — real audio confirms the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pic>
        <p:nvPicPr>
          <p:cNvPr id="8" name="Picture 7" descr="result_audio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7635240" cy="37684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39327" y="1691640"/>
            <a:ext cx="3154680" cy="11887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39327" y="16916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0496" y="1856232"/>
            <a:ext cx="27706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At M =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2258568"/>
            <a:ext cx="27706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Polyphase FIR RMSE = 0.0168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7" y="3063240"/>
            <a:ext cx="3154680" cy="11887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9327" y="30632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3227832"/>
            <a:ext cx="27706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42% lower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630168"/>
            <a:ext cx="27706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Compared with linear: 0.0168 vs. 0.0289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4434840"/>
            <a:ext cx="3154680" cy="1188720"/>
          </a:xfrm>
          <a:prstGeom prst="roundRect">
            <a:avLst>
              <a:gd name="adj" fmla="val 12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9327" y="44348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53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4599431"/>
            <a:ext cx="27706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Shape 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5001768"/>
            <a:ext cx="27706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C"/>
                </a:solidFill>
                <a:latin typeface="Aptos"/>
              </a:rPr>
              <a:t>0.983 for polyphase FIR vs. 0.967 for linear (M = 8).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F6C7D"/>
                </a:solidFill>
                <a:latin typeface="Aptos"/>
              </a:rPr>
              <a:t>Only one audio excerpt of about two seconds was tested; broader real-sensor validation remains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04  |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Conclusion and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27631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5270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Method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527048"/>
            <a:ext cx="7909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Spline, FFT and polyphase FIR were most accurate; zero-order hold was least accurate.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4231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4203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4414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Baseline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41448"/>
            <a:ext cx="7909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Polyphase FIR lowered RMSE by ~14% on synthetic data at M = 4 and ~42% on real audio at M = 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45643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3558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Sampling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355848"/>
            <a:ext cx="7909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Choose M so the reduced sampling rate stays safely above twice the highest signal frequency.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519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37083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2702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270248"/>
            <a:ext cx="7909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Anti-alias filtering helps when out-of-band content exists, but filter design and edge effects matter.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663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28523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1846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Noise 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84648"/>
            <a:ext cx="7909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D3C"/>
                </a:solidFill>
                <a:latin typeface="Aptos"/>
              </a:rPr>
              <a:t>Noise removal creates an error floor that interpolation cannot recover.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144768"/>
            <a:ext cx="10881360" cy="36576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236208"/>
            <a:ext cx="10881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9196"/>
                </a:solidFill>
                <a:latin typeface="Aptos"/>
              </a:rPr>
              <a:t>Recommended default: polyphase FIR for quality-conscious multirate reconstruction; cubic spline for offline smooth reconstruction.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196"/>
                </a:solidFill>
                <a:latin typeface="Aptos"/>
              </a:rPr>
              <a:t>05  | 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References and project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658368" cy="41148"/>
          </a:xfrm>
          <a:prstGeom prst="rect">
            <a:avLst/>
          </a:prstGeom>
          <a:solidFill>
            <a:srgbClr val="F2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C7D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C7D"/>
                </a:solidFill>
                <a:latin typeface="Aptos"/>
              </a:rPr>
              <a:t>DSP MINI-PROJECT  •  DES PUNE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10881360" cy="3154680"/>
          </a:xfrm>
          <a:prstGeom prst="rect">
            <a:avLst/>
          </a:prstGeom>
          <a:noFill/>
        </p:spPr>
        <p:txBody>
          <a:bodyPr wrap="square" lIns="54864" rIns="45720" tIns="36576" bIns="36576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  <a:latin typeface="Aptos"/>
              </a:defRPr>
            </a:pPr>
            <a:r>
              <a:t>•  R. E. Crochiere and L. R. Rabiner, Multirate Digital Signal Processing, Elsevier, 1983. https://doi.org/10.1016/0165-1684(83)90013-0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  <a:latin typeface="Aptos"/>
              </a:defRPr>
            </a:pPr>
            <a:r>
              <a:t>•  R. W. Schafer and L. R. Rabiner, “A digital signal processing approach to interpolation,” Proceedings of the IEEE, vol. 61, no. 6, pp. 692–702, 1973.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  <a:latin typeface="Aptos"/>
              </a:defRPr>
            </a:pPr>
            <a:r>
              <a:t>•  A. V. Oppenheim and R. W. Schafer, Discrete-Time Signal Processing, 3rd ed., Pearson, 2010.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  <a:latin typeface="Aptos"/>
              </a:defRPr>
            </a:pPr>
            <a:r>
              <a:t>•  V. Panayotov et al., “LibriSpeech: an ASR corpus based on public domain audio books,” ICASSP 2015, pp. 5206–5210. https://www.openslr.org/12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  <a:latin typeface="Aptos"/>
              </a:defRPr>
            </a:pPr>
            <a:r>
              <a:t>•  P. Virtanen et al., “SciPy 1.0: fundamental algorithms for scientific computing in Python,” Nature Methods, vol. 17, pp. 261–272, 2020.</a:t>
            </a:r>
          </a:p>
          <a:p>
            <a:pPr>
              <a:spcAft>
                <a:spcPts val="800"/>
              </a:spcAft>
              <a:defRPr sz="1100">
                <a:solidFill>
                  <a:srgbClr val="232D3C"/>
                </a:solidFill>
                <a:latin typeface="Aptos"/>
              </a:defRPr>
            </a:pPr>
            <a:r>
              <a:t>•  MathWorks, MATLAB Signal Processing Toolbox documentation: decimate, resample, interpft and interp1.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846320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4748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EC3"/>
                </a:solidFill>
                <a:latin typeface="Aptos"/>
              </a:rPr>
              <a:t>SOURCE CODE  | 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76672"/>
            <a:ext cx="10149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https://github.com/rushikeshborade123/Interpolation-for-Smooth-Reconstruction-of-Sensor-Signals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44768"/>
            <a:ext cx="10789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F6C7D"/>
                </a:solidFill>
                <a:latin typeface="Aptos"/>
              </a:rPr>
              <a:t>Note: the report lists a PubMed reference (PMID 40534299) without complete bibliographic details; it has not been expanded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